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500" b="1">
                <a:solidFill>
                  <a:srgbClr val="0B3D4A"/>
                </a:solidFill>
              </a:defRPr>
            </a:pPr>
            <a:r>
              <a:t>GAIATECH GLOBAL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B7862A"/>
                </a:solidFill>
              </a:defRPr>
            </a:pPr>
            <a:r>
              <a:t>MVP DE JUSTIÇA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Infraestrutura de Inteligência Aplicada para o ecossistema da Justiça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978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0646B"/>
                </a:solidFill>
              </a:defRPr>
            </a:pPr>
            <a:r>
              <a:t>Mentoria Anjos do Brasil • Captação pretendida: R$ 2 milhões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B3D4A"/>
                </a:solidFill>
              </a:defRPr>
            </a:pPr>
            <a:r>
              <a:t>O PROBLEMA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B7862A"/>
                </a:solidFill>
              </a:defRPr>
            </a:pPr>
            <a:r>
              <a:t>Uma questão de escala e complexidade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O Judiciário brasileiro encerrou 2025 com 75,5 milhões de processos em tramitação e recebeu 40,9 milhões de novos processos no ano. O tempo médio dos processos pendentes foi de 3 anos e 7 meses.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978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0646B"/>
                </a:solidFill>
              </a:defRPr>
            </a:pPr>
            <a:r>
              <a:t>Fonte: CNJ — Justiça em Números 2026, ano-base 2025.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B3D4A"/>
                </a:solidFill>
              </a:defRPr>
            </a:pPr>
            <a:r>
              <a:t>A OPORTUNIDADE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B7862A"/>
                </a:solidFill>
              </a:defRPr>
            </a:pPr>
            <a:r>
              <a:t>Transformar complexidade em inteligência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Existe uma oportunidade para aplicar IA, dados e análise de cenários à organização e inteligência operacional do ecossistema da Justiça, com foco em eficiência, rastreabilidade e apoio à decisão.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B3D4A"/>
                </a:solidFill>
              </a:defRPr>
            </a:pPr>
            <a:r>
              <a:t>A SOLUÇÃO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B7862A"/>
                </a:solidFill>
              </a:defRPr>
            </a:pPr>
            <a:r>
              <a:t>MVP de Justiça GAIATECH GLOBAL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Uma aplicação vertical da infraestrutura GAIATECH GLOBAL para organizar, analisar e transformar informações complexas em inteligência aplicada ao ecossistema da Justiça.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B3D4A"/>
                </a:solidFill>
              </a:defRPr>
            </a:pPr>
            <a:r>
              <a:t>COMO FUNCIONA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B7862A"/>
                </a:solidFill>
              </a:defRPr>
            </a:pPr>
            <a:r>
              <a:t>Da informação à inteligência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DADOS → ORGANIZAÇÃO → ANÁLISE → SINAIS → CENÁRIOS → INTELIGÊNCIA PARA DECISÃO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978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0646B"/>
                </a:solidFill>
              </a:defRPr>
            </a:pPr>
            <a:r>
              <a:t>A solução foi concebida como camada de inteligência, podendo complementar sistemas existentes.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B3D4A"/>
                </a:solidFill>
              </a:defRPr>
            </a:pPr>
            <a:r>
              <a:t>CLIENTE E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B7862A"/>
                </a:solidFill>
              </a:defRPr>
            </a:pPr>
            <a:r>
              <a:t>Foco inicial: B2G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Clientes-alvo: órgãos e instituições públicas do ecossistema da Justiça. Modelo pretendido: contratação institucional, implantação por etapas e expansão por unidades/casos de uso.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978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0646B"/>
                </a:solidFill>
              </a:defRPr>
            </a:pPr>
            <a:r>
              <a:t>Segmento: Lawtech / Legaltech / Regtech + Setor Público / Governo.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B3D4A"/>
                </a:solidFill>
              </a:defRPr>
            </a:pPr>
            <a:r>
              <a:t>MODELO DE NEGÓCIO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B7862A"/>
                </a:solidFill>
              </a:defRPr>
            </a:pPr>
            <a:r>
              <a:t>Como a GAIATECH pretende capturar valor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Licenciamento/contratação institucional da solução, implantação e serviços associados, com possibilidade de expansão por módulos, unidades e casos de uso.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978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0646B"/>
                </a:solidFill>
              </a:defRPr>
            </a:pPr>
            <a:r>
              <a:t>Modelo, precificação e recorrência serão refinados na validação de mercado.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B3D4A"/>
                </a:solidFill>
              </a:defRPr>
            </a:pPr>
            <a:r>
              <a:t>ESTÁGIO E VALIDAÇÃO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B7862A"/>
                </a:solidFill>
              </a:defRPr>
            </a:pPr>
            <a:r>
              <a:t>MVP funcional • sem receita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A GAIATECH GLOBAL apresenta o MVP de Justiça como produto de entrada. A próxima etapa é validar proposta de valor, cliente pagador, contratação, indicadores e repetibilidade.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978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0646B"/>
                </a:solidFill>
              </a:defRPr>
            </a:pPr>
            <a:r>
              <a:t>Investidores externos: 0. Receita: ainda não apresentada como histórica.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B3D4A"/>
                </a:solidFill>
              </a:defRPr>
            </a:pPr>
            <a:r>
              <a:t>CONCORRÊNCIA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B7862A"/>
                </a:solidFill>
              </a:defRPr>
            </a:pPr>
            <a:r>
              <a:t>O que já existe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Sistemas de gestão processual, bases de dados, ferramentas jurídicas, soluções internas e consultorias já atendem partes do problema.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978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0646B"/>
                </a:solidFill>
              </a:defRPr>
            </a:pPr>
            <a:r>
              <a:t>Posicionamento: camada de inteligência aplicada que pode trabalhar sobre o ecossistema existente, sem depender da substituição integral dos sistemas.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B3D4A"/>
                </a:solidFill>
              </a:defRPr>
            </a:pPr>
            <a:r>
              <a:t>GO-TO-MARKET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B7862A"/>
                </a:solidFill>
              </a:defRPr>
            </a:pPr>
            <a:r>
              <a:t>Validar antes de escalar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1. Selecionar caso de uso inicial</a:t>
            </a:r>
          </a:p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2. Identificar órgão/unidade e decisores</a:t>
            </a:r>
          </a:p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3. Executar piloto com indicadores</a:t>
            </a:r>
          </a:p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4. Demonstrar valor e segurança</a:t>
            </a:r>
          </a:p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5. Converter piloto em contratação</a:t>
            </a:r>
          </a:p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6. Expandir dentro do mercado público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B3D4A"/>
                </a:solidFill>
              </a:defRPr>
            </a:pPr>
            <a:r>
              <a:t>ESCALA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B7862A"/>
                </a:solidFill>
              </a:defRPr>
            </a:pPr>
            <a:r>
              <a:t>Da primeira aplicação para uma infraestrutura replicável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A arquitetura GAIATECH GLOBAL permite replicar componentes de inteligência, dados e analytics para diferentes instituições e casos de uso, preservando uma base tecnológica comum.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978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0646B"/>
                </a:solidFill>
              </a:defRPr>
            </a:pPr>
            <a:r>
              <a:t>A expansão será condicionada à validação comercial e operacional.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B3D4A"/>
                </a:solidFill>
              </a:defRPr>
            </a:pPr>
            <a:r>
              <a:t>INVESTIMENTO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B7862A"/>
                </a:solidFill>
              </a:defRPr>
            </a:pPr>
            <a:r>
              <a:t>R$ 2 milhões nos próximos 6 meses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Produto, IA, dados, segurança e infraestrutura: R$ 600 mil</a:t>
            </a:r>
          </a:p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Pilotos e validação: R$ 400 mil</a:t>
            </a:r>
          </a:p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Equipe especializada: R$ 500 mil</a:t>
            </a:r>
          </a:p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Comercial B2G: R$ 250 mil</a:t>
            </a:r>
          </a:p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Jurídico, governança e compliance: R$ 150 mil</a:t>
            </a:r>
          </a:p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Reserva operacional: R$ 100 mil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978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0646B"/>
                </a:solidFill>
              </a:defRPr>
            </a:pPr>
            <a:r>
              <a:t>Total: R$ 2.000.000.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B3D4A"/>
                </a:solidFill>
              </a:defRPr>
            </a:pPr>
            <a:r>
              <a:t>METAS DA PRÓXIMA FASE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B7862A"/>
                </a:solidFill>
              </a:defRPr>
            </a:pPr>
            <a:r>
              <a:t>O que o investimento precisa provar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• Caso de uso e proposta de valor validados</a:t>
            </a:r>
          </a:p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• Pilotos institucionais</a:t>
            </a:r>
          </a:p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• Primeiros contratos</a:t>
            </a:r>
          </a:p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• Indicadores de eficiência/valor</a:t>
            </a:r>
          </a:p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• Modelo comercial replicável</a:t>
            </a:r>
          </a:p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• Base para receita recorrente</a:t>
            </a:r>
          </a:p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• Preparação para rodada futura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978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0646B"/>
                </a:solidFill>
              </a:defRPr>
            </a:pPr>
            <a:r>
              <a:t>CAC, LTV, MRR, Burn Rate, Runway e Churn serão acompanhados quando houver base real.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A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B3D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502920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900" b="1">
                <a:solidFill>
                  <a:srgbClr val="0B3D4A"/>
                </a:solidFill>
              </a:defRPr>
            </a:pPr>
            <a:r>
              <a:t>EQUIPE + PEDIDO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078992"/>
            <a:ext cx="1088136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900" b="1">
                <a:solidFill>
                  <a:srgbClr val="B7862A"/>
                </a:solidFill>
              </a:defRPr>
            </a:pPr>
            <a:r>
              <a:t>Por que Anjos do Brasil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10698480" cy="3749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Reinaldo Adeodato Porto Siqueira — Fundador e Diretor-Geral.</a:t>
            </a:r>
          </a:p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</a:p>
          <a:p>
            <a:pPr>
              <a:spcAft>
                <a:spcPts val="1300"/>
              </a:spcAft>
              <a:defRPr sz="1800">
                <a:solidFill>
                  <a:srgbClr val="18313A"/>
                </a:solidFill>
              </a:defRPr>
            </a:pPr>
            <a:r>
              <a:t>Buscamos mentoria em Planejamento Estratégico para validar mercado, modelo B2G, estratégia de entrada, escala, governança e preparação para investimento.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897880"/>
            <a:ext cx="106070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>
                <a:solidFill>
                  <a:srgbClr val="50646B"/>
                </a:solidFill>
              </a:defRPr>
            </a:pPr>
            <a:r>
              <a:t>GAIATECH GLOBAL — Infraestrutura de Inteligência Aplicada.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292840" y="6400800"/>
            <a:ext cx="457200" cy="228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00"/>
            </a:pPr>
            <a:r>
              <a:t>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